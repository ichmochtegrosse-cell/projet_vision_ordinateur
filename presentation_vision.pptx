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43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0" y="2365202"/>
            <a:ext cx="1920240" cy="502920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6172" y="23237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Master 2 BDGL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63462" y="997430"/>
            <a:ext cx="29166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AB4E8"/>
                </a:solidFill>
              </a:rPr>
              <a:t>Vision par Ordinateur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3944" y="1661987"/>
            <a:ext cx="6088433" cy="1285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Harris · SIFT · SURF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</a:rPr>
              <a:t>ORB · GLCM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AB4E8"/>
                </a:solidFill>
              </a:rPr>
              <a:t>Détection de points d'intérêt et analyse de texture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B4E8"/>
                </a:solidFill>
              </a:rPr>
              <a:t>Étudiants : </a:t>
            </a:r>
            <a:r>
              <a:rPr lang="en-US" sz="1300" dirty="0">
                <a:solidFill>
                  <a:srgbClr val="FFFFFF"/>
                </a:solidFill>
              </a:rPr>
              <a:t>KOUADIO KOUASSI HIPOLITE  &amp;  KOUADIO KOUAKOU JEAN MARC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B4E8"/>
                </a:solidFill>
              </a:rPr>
              <a:t>Encadrant : </a:t>
            </a:r>
            <a:r>
              <a:rPr lang="en-US" sz="1300" dirty="0">
                <a:solidFill>
                  <a:srgbClr val="FFFFFF"/>
                </a:solidFill>
              </a:rPr>
              <a:t>M. DIARRA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07080"/>
                </a:solidFill>
              </a:rPr>
              <a:t>mai 2026</a:t>
            </a:r>
            <a:endParaRPr lang="en-US" sz="1100" dirty="0"/>
          </a:p>
        </p:txBody>
      </p:sp>
      <p:pic>
        <p:nvPicPr>
          <p:cNvPr id="13" name="Picture 1" descr="page1image50044432">
            <a:extLst>
              <a:ext uri="{FF2B5EF4-FFF2-40B4-BE49-F238E27FC236}">
                <a16:creationId xmlns:a16="http://schemas.microsoft.com/office/drawing/2014/main" id="{E7F3C2A7-204F-814C-B9F3-8234852E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13" y="250351"/>
            <a:ext cx="1368114" cy="10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7FB9AC9-9D9C-994B-BE38-6297711F89EE}"/>
              </a:ext>
            </a:extLst>
          </p:cNvPr>
          <p:cNvSpPr/>
          <p:nvPr/>
        </p:nvSpPr>
        <p:spPr>
          <a:xfrm>
            <a:off x="7442972" y="261539"/>
            <a:ext cx="1368115" cy="101021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</a:rPr>
              <a:t>00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Plan de présentation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</a:rPr>
              <a:t>01  Introduction &amp; Contexte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02  Présentation des 5 méthodes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03  Harris — Détecteur de coins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04  SIFT — Scale-Invariant Feature Transform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05  SURF — Speeded-Up Robust Features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06  ORB — Oriented FAST + Rotated BRIEF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07  GLCM — Descripteurs de texture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08  Résultats &amp; Comparaison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2D2D"/>
                </a:solidFill>
              </a:rPr>
              <a:t>09  Conclusion &amp; Perspectives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Introduction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Objectifs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La vision par ordinateur permet aux machines d'interpréter le contenu visuel.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Objectif : implémenter et comparer 5 méthodes classiques.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Image test : couverture du livre « Rendez-vous au sommet » de Zig Ziglar (225×225 px).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Outils : Python 3, OpenCV, scikit-image, VSCode.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</a:rPr>
              <a:t>Résultat attendu : figure comparative + descripteurs GLCM.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Les 5 méthodes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Vue comparative des méthodes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Descripteur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Invariant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Licence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Coins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Libre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SIFT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Keypoints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128-D float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Échelle+Rot.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Libre (2020)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SURF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Keypoints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64-D float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Échelle+Rot.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Breveté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Keypoints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256-bits bin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Libre (BSD)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GLCM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Texture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scalaires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Libre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Harris — Détecteur de coins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#01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669280" cy="3840480"/>
          </a:xfrm>
          <a:prstGeom prst="rect">
            <a:avLst/>
          </a:prstGeom>
          <a:solidFill>
            <a:srgbClr val="F0F4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Proposé par Harris &amp; Stephens en 1988.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Repose sur la matrice de structure M calculée à partir des gradients.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Réponse : R = det(M) − k · trace(M)²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Coin si R &gt; seuil  |  Arête si R &lt; 0  |  Plat si R ≈ 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Paramètre k fixé à 0.04 dans notre implémentation.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Invariant à la rotation — sensible à l'échelle.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Résultat : 6 187 coins détectés sur l'image test.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804672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6 187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Coins détectés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83664"/>
            <a:ext cx="2651760" cy="804672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359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Paramètre 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52928"/>
            <a:ext cx="2651760" cy="804672"/>
          </a:xfrm>
          <a:prstGeom prst="rect">
            <a:avLst/>
          </a:prstGeom>
          <a:solidFill>
            <a:srgbClr val="1B3A6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1% du max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328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Seuil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SIFT — Scale-Invariant Feature Transform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#02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669280" cy="3840480"/>
          </a:xfrm>
          <a:prstGeom prst="rect">
            <a:avLst/>
          </a:prstGeom>
          <a:solidFill>
            <a:srgbClr val="F0F4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Développé par David Lowe (Université UBC, 2004).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Détection des extrema dans l'espace-échelle via DoG.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Assignation d'une orientation dominante par histogramme de gradients.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Descripteur 128-D : histogrammes HOG sur 4×4 cellules.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Invariant à l'échelle, rotation et illumination.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Domaine public depuis 2020 (brevet expiré).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Résultat : 370 keypoints, descripteurs (370, 128).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804672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370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Keypoints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83664"/>
            <a:ext cx="2651760" cy="804672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128-D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359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Descripteur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52928"/>
            <a:ext cx="2651760" cy="804672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Flottant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328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SURF — Speeded-Up Robust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#03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669280" cy="3840480"/>
          </a:xfrm>
          <a:prstGeom prst="rect">
            <a:avLst/>
          </a:prstGeom>
          <a:solidFill>
            <a:srgbClr val="F0F4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Proposé par Bay et al. (ETH Zurich, 2006).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Utilise le déterminant de la matrice Hessienne pour détecter les keypoints.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Filtres de boîte intégraux comme approximation des Gaussiennes.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Descripteur basé sur réponses d'ondelettes de Haar (64-D ou 128-D).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3× plus rapide que SIFT à précision comparable.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⚠ Algorithme breveté — module opencv-contrib requis.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Dans notre impl. : BRISK utilisé en substitut → 676 keypoints.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804672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676*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Keypoints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83664"/>
            <a:ext cx="2651760" cy="804672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64-D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359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Descripteur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52928"/>
            <a:ext cx="2651760" cy="804672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BRISK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328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Substitut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ORB — Oriented FAST + Rotated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#04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669280" cy="3840480"/>
          </a:xfrm>
          <a:prstGeom prst="rect">
            <a:avLst/>
          </a:prstGeom>
          <a:solidFill>
            <a:srgbClr val="F0F4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Proposé par Rublee et al. (OpenCV Lab, 2011).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Détection avec FAST (Features from Accelerated Segment Test).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Description avec BRIEF orienté (Binary Robust Independent Elementary Features).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Descripteur binaire de 256 bits (32 octets).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Comparaison par distance de Hamming — très rapide.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Entièrement libre de droits (BSD) — parfait pour l'embarqué.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Résultat : 740 keypoints, descripteurs (740, 32).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804672"/>
          </a:xfrm>
          <a:prstGeom prst="rect">
            <a:avLst/>
          </a:prstGeom>
          <a:solidFill>
            <a:srgbClr val="8E44A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Keypoints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83664"/>
            <a:ext cx="2651760" cy="804672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256-bits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359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Descripteur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52928"/>
            <a:ext cx="2651760" cy="804672"/>
          </a:xfrm>
          <a:prstGeom prst="rect">
            <a:avLst/>
          </a:prstGeom>
          <a:solidFill>
            <a:srgbClr val="8E44A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BSD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328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Licence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GLCM — Descripteurs de texture (Haralick)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37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#05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669280" cy="3840480"/>
          </a:xfrm>
          <a:prstGeom prst="rect">
            <a:avLst/>
          </a:prstGeom>
          <a:solidFill>
            <a:srgbClr val="F0F4F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Matrice de co-occurrence des niveaux de gris — Haralick et al. (1973).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Mesure la fréquence des paires de niveaux de gris voisins.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4 angles analysés : 0°, 45°, 90°, 135° — distance = 1.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5 descripteurs extraits : Contraste · Dissimilarité · Homogénéité · Énergie · Corrélation.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Contraste moyen = 50.82  |  Corrélation = 0.90  |  Énergie = 0.15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Interprétation : texture modérément complexe, forte continuité spatiale.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Idéal pour la classification d'images médicales, satellitaires, industrielles.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804672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13898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Descripteurs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83664"/>
            <a:ext cx="2651760" cy="804672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883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 × 0°–135°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2359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Angles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52928"/>
            <a:ext cx="2651760" cy="804672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8529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0.90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3284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Corrélation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Résultats &amp; Comparaison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Résultats quantitatifs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Méthode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Keypoints / Coins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Descripteur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Vitesse relative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6 187 coins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SIFT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370 keypoints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128-D float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★★☆☆☆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SURF/BRISK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676 keypoints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64-D float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740 keypoints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256-bits bin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GLCM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scalaires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Haralick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★★★☆☆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</a:rPr>
              <a:t>Vision par Ordinateur — Master 2 BDGL  |  Prof. M. DIARRA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103120"/>
            <a:ext cx="27432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</a:rPr>
              <a:t>04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Conclusion</a:t>
            </a:r>
            <a:endParaRPr lang="en-US" sz="3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Perspectives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09728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Harris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996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</a:rPr>
              <a:t>Simple, rapide — idéal pour les coins nets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11480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03120"/>
            <a:ext cx="109728" cy="8046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</a:rPr>
              <a:t>Plus robuste — matching multi-échelle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11480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109728" cy="8046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SURF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</a:rPr>
              <a:t>Rapide, robuste — dépendance licence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11480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09728" cy="80467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09728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14996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</a:rPr>
              <a:t>Temps réel, open-source — parfait embarqué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4114800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03120"/>
            <a:ext cx="10972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10312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GLCM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25054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</a:rPr>
              <a:t>Texture statistique — classification d'images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B4E8"/>
                </a:solidFill>
              </a:rPr>
              <a:t>Ces méthodes sont complémentaires et constituent la base des systèmes de vision modernes.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915</Words>
  <Application>Microsoft Macintosh PowerPoint</Application>
  <PresentationFormat>Affichage à l'écran (16:9)</PresentationFormat>
  <Paragraphs>206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par Ordinateur — Harris · SIFT · SURF · ORB · GLCM</dc:title>
  <dc:subject>PptxGenJS Presentation</dc:subject>
  <dc:creator>KOUADIO KOUASSI HIPOLITE &amp; KOUADIO KOUAKOU JEAN MARC</dc:creator>
  <cp:lastModifiedBy>KOUASSI HIPOLITE Sagesse KOUADIO</cp:lastModifiedBy>
  <cp:revision>2</cp:revision>
  <dcterms:created xsi:type="dcterms:W3CDTF">2026-05-22T08:19:25Z</dcterms:created>
  <dcterms:modified xsi:type="dcterms:W3CDTF">2026-05-22T09:22:24Z</dcterms:modified>
</cp:coreProperties>
</file>