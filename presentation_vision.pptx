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Shape 2"/>
          <p:cNvSpPr/>
          <p:nvPr/>
        </p:nvSpPr>
        <p:spPr>
          <a:xfrm>
            <a:off x="6949440" y="274320"/>
            <a:ext cx="1920240" cy="502920"/>
          </a:xfrm>
          <a:prstGeom prst="rect">
            <a:avLst/>
          </a:prstGeom>
          <a:solidFill>
            <a:srgbClr val="2E75B6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949440" y="274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Master 2 BDGL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8AB4E8"/>
                </a:solidFill>
              </a:rPr>
              <a:t>Vision par Ordinateur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Harris · SIFT · SURF</a:t>
            </a:r>
            <a:endParaRPr lang="en-US" sz="4600" dirty="0"/>
          </a:p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ORB · GLCM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8AB4E8"/>
                </a:solidFill>
              </a:rPr>
              <a:t>Détection de points d'intérêt et analyse de texture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822960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B4E8"/>
                </a:solidFill>
              </a:rPr>
              <a:t>Étudiants 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KOUADIO KOUASSI HIPOLITE  &amp;  KOUADIO KOUAKOU JEAN MARC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B4E8"/>
                </a:solidFill>
              </a:rPr>
              <a:t>Encadrant 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M. DIARRA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07080"/>
                </a:solidFill>
              </a:rPr>
              <a:t>mai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2103120"/>
            <a:ext cx="274320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73152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FFFFFF">
                    <a:alpha val="15000"/>
                  </a:srgbClr>
                </a:solidFill>
              </a:rPr>
              <a:t>00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Plan de présentation</a:t>
            </a:r>
            <a:endParaRPr lang="en-US" sz="3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Sommaire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503920" y="0"/>
            <a:ext cx="640080" cy="8229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8503920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D2D2D"/>
                </a:solidFill>
              </a:rPr>
              <a:t>01  Introduction &amp; Contexte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2D2D"/>
                </a:solidFill>
              </a:rPr>
              <a:t>02  Présentation des 5 méthodes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2D2D"/>
                </a:solidFill>
              </a:rPr>
              <a:t>03  Harris — Détecteur de coins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2D2D"/>
                </a:solidFill>
              </a:rPr>
              <a:t>04  SIFT — Scale-Invariant Feature Transform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2D2D"/>
                </a:solidFill>
              </a:rPr>
              <a:t>05  SURF — Speeded-Up Robust Features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2D2D"/>
                </a:solidFill>
              </a:rPr>
              <a:t>06  ORB — Oriented FAST + Rotated BRIEF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2D2D"/>
                </a:solidFill>
              </a:rPr>
              <a:t>07  GLCM — Descripteurs de texture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2D2D"/>
                </a:solidFill>
              </a:rPr>
              <a:t>08  Résultats &amp; Comparaison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2D2D2D"/>
                </a:solidFill>
              </a:rPr>
              <a:t>09  Conclusion &amp; Perspectives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0"/>
          </a:xfrm>
          <a:prstGeom prst="line">
            <a:avLst/>
          </a:prstGeom>
          <a:noFill/>
          <a:ln w="127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Vision par Ordinateur — Master 2 BDGL  |  Prof. M. DIARRA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2103120"/>
            <a:ext cx="274320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73152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FFFFFF">
                    <a:alpha val="15000"/>
                  </a:srgbClr>
                </a:solidFill>
              </a:rPr>
              <a:t>01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Introduction</a:t>
            </a:r>
            <a:endParaRPr lang="en-US" sz="3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Contexte &amp; Objectifs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503920" y="0"/>
            <a:ext cx="640080" cy="8229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8503920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2D2D"/>
                </a:solidFill>
              </a:rPr>
              <a:t>La vision par ordinateur permet aux machines d'interpréter le contenu visuel.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2D2D"/>
                </a:solidFill>
              </a:rPr>
              <a:t>Objectif : implémenter et comparer 5 méthodes classiques.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2D2D"/>
                </a:solidFill>
              </a:rPr>
              <a:t>Image test : couverture du livre « Rendez-vous au sommet » de Zig Ziglar (225×225 px).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2D2D"/>
                </a:solidFill>
              </a:rPr>
              <a:t>Outils : Python 3, OpenCV, scikit-image, VSCode.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2D2D"/>
                </a:solidFill>
              </a:rPr>
              <a:t>Résultat attendu : figure comparative + descripteurs GLCM.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0"/>
          </a:xfrm>
          <a:prstGeom prst="line">
            <a:avLst/>
          </a:prstGeom>
          <a:noFill/>
          <a:ln w="127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Vision par Ordinateur — Master 2 BDGL  |  Prof. M. DIARRA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2103120"/>
            <a:ext cx="274320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73152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FFFFFF">
                    <a:alpha val="15000"/>
                  </a:srgbClr>
                </a:solidFill>
              </a:rPr>
              <a:t>02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Les 5 méthodes</a:t>
            </a:r>
            <a:endParaRPr lang="en-US" sz="3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Vue comparative des méthodes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503920" y="0"/>
            <a:ext cx="640080" cy="8229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8503920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45920"/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Méthode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Descripteur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Invariant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Licence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Coins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Rotation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Libre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SIFT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Keypoints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128-D float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Échelle+Rot.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Libre (2020)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SURF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Keypoints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64-D float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Échelle+Rot.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Breveté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ORB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Keypoints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256-bits bin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Rotation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Libre (BSD)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GLCM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Texture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 scalaires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Libre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4956048"/>
            <a:ext cx="9144000" cy="0"/>
          </a:xfrm>
          <a:prstGeom prst="line">
            <a:avLst/>
          </a:prstGeom>
          <a:noFill/>
          <a:ln w="12700">
            <a:solidFill>
              <a:srgbClr val="2E75B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Vision par Ordinateur — Master 2 BDGL  |  Prof. M. DIARRA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Harris — Détecteur de coins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498080" y="137160"/>
            <a:ext cx="1371600" cy="5486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0" y="137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#01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5669280" cy="3840480"/>
          </a:xfrm>
          <a:prstGeom prst="rect">
            <a:avLst/>
          </a:prstGeom>
          <a:solidFill>
            <a:srgbClr val="F0F4FA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05840"/>
            <a:ext cx="5394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Proposé par Harris &amp; Stephens en 1988.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Repose sur la matrice de structure M calculée à partir des gradients.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Réponse : R = det(M) − k · trace(M)²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Coin si R &gt; seuil  |  Arête si R &lt; 0  |  Plat si R ≈ 0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Paramètre k fixé à 0.04 dans notre implémentation.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Invariant à la rotation — sensible à l'échelle.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Résultat : 6 187 coins détectés sur l'image test.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914400"/>
            <a:ext cx="2651760" cy="804672"/>
          </a:xfrm>
          <a:prstGeom prst="rect">
            <a:avLst/>
          </a:prstGeom>
          <a:solidFill>
            <a:srgbClr val="1B3A6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91440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6 187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217920" y="138988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Coins détectés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883664"/>
            <a:ext cx="2651760" cy="804672"/>
          </a:xfrm>
          <a:prstGeom prst="rect">
            <a:avLst/>
          </a:prstGeom>
          <a:solidFill>
            <a:srgbClr val="2E75B6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17920" y="18836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0.04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7920" y="235915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Paramètre 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2852928"/>
            <a:ext cx="2651760" cy="804672"/>
          </a:xfrm>
          <a:prstGeom prst="rect">
            <a:avLst/>
          </a:prstGeom>
          <a:solidFill>
            <a:srgbClr val="1B3A6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285292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1% du max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17920" y="332841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Seuil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956048"/>
            <a:ext cx="9144000" cy="0"/>
          </a:xfrm>
          <a:prstGeom prst="line">
            <a:avLst/>
          </a:prstGeom>
          <a:noFill/>
          <a:ln w="1270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Vision par Ordinateur — Master 2 BDGL  |  Prof. M. DIARRA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SIFT — Scale-Invariant Feature Transform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498080" y="137160"/>
            <a:ext cx="1371600" cy="54864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0" y="137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#02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5669280" cy="3840480"/>
          </a:xfrm>
          <a:prstGeom prst="rect">
            <a:avLst/>
          </a:prstGeom>
          <a:solidFill>
            <a:srgbClr val="F0F4FA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05840"/>
            <a:ext cx="5394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Développé par David Lowe (Université UBC, 2004).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Détection des extrema dans l'espace-échelle via DoG.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Assignation d'une orientation dominante par histogramme de gradients.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Descripteur 128-D : histogrammes HOG sur 4×4 cellules.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Invariant à l'échelle, rotation et illumination.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Domaine public depuis 2020 (brevet expiré).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Résultat : 370 keypoints, descripteurs (370, 128).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914400"/>
            <a:ext cx="2651760" cy="804672"/>
          </a:xfrm>
          <a:prstGeom prst="rect">
            <a:avLst/>
          </a:prstGeom>
          <a:solidFill>
            <a:srgbClr val="27AE6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91440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370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217920" y="138988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Keypoints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883664"/>
            <a:ext cx="2651760" cy="804672"/>
          </a:xfrm>
          <a:prstGeom prst="rect">
            <a:avLst/>
          </a:prstGeom>
          <a:solidFill>
            <a:srgbClr val="2E75B6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17920" y="18836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128-D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7920" y="235915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Descripteur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2852928"/>
            <a:ext cx="2651760" cy="804672"/>
          </a:xfrm>
          <a:prstGeom prst="rect">
            <a:avLst/>
          </a:prstGeom>
          <a:solidFill>
            <a:srgbClr val="27AE60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285292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Flottant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17920" y="332841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Type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956048"/>
            <a:ext cx="9144000" cy="0"/>
          </a:xfrm>
          <a:prstGeom prst="line">
            <a:avLst/>
          </a:prstGeom>
          <a:noFill/>
          <a:ln w="1270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Vision par Ordinateur — Master 2 BDGL  |  Prof. M. DIARRA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SURF — Speeded-Up Robust Features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498080" y="137160"/>
            <a:ext cx="1371600" cy="54864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0" y="137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#03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5669280" cy="3840480"/>
          </a:xfrm>
          <a:prstGeom prst="rect">
            <a:avLst/>
          </a:prstGeom>
          <a:solidFill>
            <a:srgbClr val="F0F4FA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05840"/>
            <a:ext cx="5394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Proposé par Bay et al. (ETH Zurich, 2006).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Utilise le déterminant de la matrice Hessienne pour détecter les keypoints.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Filtres de boîte intégraux comme approximation des Gaussiennes.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Descripteur basé sur réponses d'ondelettes de Haar (64-D ou 128-D).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3× plus rapide que SIFT à précision comparable.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⚠ Algorithme breveté — module opencv-contrib requis.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Dans notre impl. : BRISK utilisé en substitut → 676 keypoints.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914400"/>
            <a:ext cx="2651760" cy="804672"/>
          </a:xfrm>
          <a:prstGeom prst="rect">
            <a:avLst/>
          </a:prstGeom>
          <a:solidFill>
            <a:srgbClr val="E67E2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91440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676*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217920" y="138988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Keypoints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883664"/>
            <a:ext cx="2651760" cy="804672"/>
          </a:xfrm>
          <a:prstGeom prst="rect">
            <a:avLst/>
          </a:prstGeom>
          <a:solidFill>
            <a:srgbClr val="2E75B6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17920" y="18836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64-D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7920" y="235915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Descripteur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2852928"/>
            <a:ext cx="2651760" cy="804672"/>
          </a:xfrm>
          <a:prstGeom prst="rect">
            <a:avLst/>
          </a:prstGeom>
          <a:solidFill>
            <a:srgbClr val="E67E2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285292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BRISK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17920" y="332841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Substitut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956048"/>
            <a:ext cx="9144000" cy="0"/>
          </a:xfrm>
          <a:prstGeom prst="line">
            <a:avLst/>
          </a:prstGeom>
          <a:noFill/>
          <a:ln w="1270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Vision par Ordinateur — Master 2 BDGL  |  Prof. M. DIARRA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ORB — Oriented FAST + Rotated BRIEF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498080" y="137160"/>
            <a:ext cx="1371600" cy="54864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0" y="137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#04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5669280" cy="3840480"/>
          </a:xfrm>
          <a:prstGeom prst="rect">
            <a:avLst/>
          </a:prstGeom>
          <a:solidFill>
            <a:srgbClr val="F0F4FA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05840"/>
            <a:ext cx="5394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Proposé par Rublee et al. (OpenCV Lab, 2011).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Détection avec FAST (Features from Accelerated Segment Test).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Description avec BRIEF orienté (Binary Robust Independent Elementary Features).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Descripteur binaire de 256 bits (32 octets).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Comparaison par distance de Hamming — très rapide.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Entièrement libre de droits (BSD) — parfait pour l'embarqué.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Résultat : 740 keypoints, descripteurs (740, 32).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914400"/>
            <a:ext cx="2651760" cy="804672"/>
          </a:xfrm>
          <a:prstGeom prst="rect">
            <a:avLst/>
          </a:prstGeom>
          <a:solidFill>
            <a:srgbClr val="8E44AD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91440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740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217920" y="138988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Keypoints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883664"/>
            <a:ext cx="2651760" cy="804672"/>
          </a:xfrm>
          <a:prstGeom prst="rect">
            <a:avLst/>
          </a:prstGeom>
          <a:solidFill>
            <a:srgbClr val="2E75B6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17920" y="18836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256-bits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7920" y="235915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Descripteur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2852928"/>
            <a:ext cx="2651760" cy="804672"/>
          </a:xfrm>
          <a:prstGeom prst="rect">
            <a:avLst/>
          </a:prstGeom>
          <a:solidFill>
            <a:srgbClr val="8E44AD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285292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BSD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17920" y="332841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Licence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956048"/>
            <a:ext cx="9144000" cy="0"/>
          </a:xfrm>
          <a:prstGeom prst="line">
            <a:avLst/>
          </a:prstGeom>
          <a:noFill/>
          <a:ln w="1270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Vision par Ordinateur — Master 2 BDGL  |  Prof. M. DIARRA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GLCM — Descripteurs de texture (Haralick)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498080" y="137160"/>
            <a:ext cx="1371600" cy="5486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0" y="137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#05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5669280" cy="3840480"/>
          </a:xfrm>
          <a:prstGeom prst="rect">
            <a:avLst/>
          </a:prstGeom>
          <a:solidFill>
            <a:srgbClr val="F0F4FA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05840"/>
            <a:ext cx="5394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Matrice de co-occurrence des niveaux de gris — Haralick et al. (1973).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Mesure la fréquence des paires de niveaux de gris voisins.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4 angles analysés : 0°, 45°, 90°, 135° — distance = 1.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5 descripteurs extraits : Contraste · Dissimilarité · Homogénéité · Énergie · Corrélation.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Contraste moyen = 50.82  |  Corrélation = 0.90  |  Énergie = 0.15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Interprétation : texture modérément complexe, forte continuité spatiale.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</a:rPr>
              <a:t>Idéal pour la classification d'images médicales, satellitaires, industrielles.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914400"/>
            <a:ext cx="2651760" cy="804672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91440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217920" y="138988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Descripteurs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883664"/>
            <a:ext cx="2651760" cy="804672"/>
          </a:xfrm>
          <a:prstGeom prst="rect">
            <a:avLst/>
          </a:prstGeom>
          <a:solidFill>
            <a:srgbClr val="2E75B6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17920" y="18836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 × 0°–135°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7920" y="235915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Angles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2852928"/>
            <a:ext cx="2651760" cy="804672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285292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0.90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17920" y="332841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Corrélation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956048"/>
            <a:ext cx="9144000" cy="0"/>
          </a:xfrm>
          <a:prstGeom prst="line">
            <a:avLst/>
          </a:prstGeom>
          <a:noFill/>
          <a:ln w="1270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Vision par Ordinateur — Master 2 BDGL  |  Prof. M. DIARRA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2103120"/>
            <a:ext cx="274320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73152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FFFFFF">
                    <a:alpha val="15000"/>
                  </a:srgbClr>
                </a:solidFill>
              </a:rPr>
              <a:t>03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Résultats &amp; Comparaison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Résultats quantitatifs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503920" y="0"/>
            <a:ext cx="640080" cy="8229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8503920" y="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5603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Méthode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Keypoints / Coins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Descripteur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Vitesse relative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6 187 coins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★★★★★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SIFT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370 keypoints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128-D float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★★☆☆☆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SURF/BRISK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676 keypoints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64-D float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★★★★☆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ORB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740 keypoints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256-bits bin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★★★★★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GLCM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 scalaires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Haralick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★★★☆☆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4956048"/>
            <a:ext cx="9144000" cy="0"/>
          </a:xfrm>
          <a:prstGeom prst="line">
            <a:avLst/>
          </a:prstGeom>
          <a:noFill/>
          <a:ln w="12700">
            <a:solidFill>
              <a:srgbClr val="2E75B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88888"/>
                </a:solidFill>
              </a:rPr>
              <a:t>Vision par Ordinateur — Master 2 BDGL  |  Prof. M. DIARRA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2103120"/>
            <a:ext cx="274320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73152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FFFFFF">
                    <a:alpha val="15000"/>
                  </a:srgbClr>
                </a:solidFill>
              </a:rPr>
              <a:t>04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Conclusion</a:t>
            </a:r>
            <a:endParaRPr lang="en-US" sz="3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Conclusion &amp; Perspectives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114800" cy="804672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109728" cy="80467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Harris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499616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CCEE"/>
                </a:solidFill>
              </a:rPr>
              <a:t>Simple, rapide — idéal pour les coins nets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2103120"/>
            <a:ext cx="4114800" cy="804672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103120"/>
            <a:ext cx="109728" cy="80467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0312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SIFT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505456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CCEE"/>
                </a:solidFill>
              </a:rPr>
              <a:t>Plus robuste — matching multi-échelle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3108960"/>
            <a:ext cx="4114800" cy="804672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3108960"/>
            <a:ext cx="109728" cy="80467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10896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SURF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511296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CCEE"/>
                </a:solidFill>
              </a:rPr>
              <a:t>Rapide, robuste — dépendance licence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097280"/>
            <a:ext cx="4114800" cy="804672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097280"/>
            <a:ext cx="109728" cy="804672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09728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ORB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37760" y="1499616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CCEE"/>
                </a:solidFill>
              </a:rPr>
              <a:t>Temps réel, open-source — parfait embarqué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2103120"/>
            <a:ext cx="4114800" cy="804672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2103120"/>
            <a:ext cx="109728" cy="8046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210312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GLCM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37760" y="2505456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CCEE"/>
                </a:solidFill>
              </a:rPr>
              <a:t>Texture statistique — classification d'images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B4E8"/>
                </a:solidFill>
              </a:rPr>
              <a:t>Ces méthodes sont complémentaires et constituent la base des systèmes de vision modernes.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par Ordinateur — Harris · SIFT · SURF · ORB · GLCM</dc:title>
  <dc:subject>PptxGenJS Presentation</dc:subject>
  <dc:creator>KOUADIO KOUASSI HIPOLITE &amp; KOUADIO KOUAKOU JEAN MARC</dc:creator>
  <cp:lastModifiedBy>KOUADIO KOUASSI HIPOLITE &amp; KOUADIO KOUAKOU JEAN MARC</cp:lastModifiedBy>
  <cp:revision>1</cp:revision>
  <dcterms:created xsi:type="dcterms:W3CDTF">2026-05-22T08:19:25Z</dcterms:created>
  <dcterms:modified xsi:type="dcterms:W3CDTF">2026-05-22T08:19:25Z</dcterms:modified>
</cp:coreProperties>
</file>